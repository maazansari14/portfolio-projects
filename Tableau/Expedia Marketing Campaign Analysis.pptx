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Poppins"/>
      <p:bold r:id="rId33"/>
      <p:boldItalic r:id="rId34"/>
    </p:embeddedFont>
    <p:embeddedFont>
      <p:font typeface="Cabin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09295C-BCD8-4499-8560-DB85E6732EAB}">
  <a:tblStyle styleId="{6809295C-BCD8-4499-8560-DB85E6732E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slide" Target="slides/slide14.xml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bold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abin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Cabin-italic.fntdata"/><Relationship Id="rId14" Type="http://schemas.openxmlformats.org/officeDocument/2006/relationships/slide" Target="slides/slide8.xml"/><Relationship Id="rId36" Type="http://schemas.openxmlformats.org/officeDocument/2006/relationships/font" Target="fonts/Cabin-bold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Cabin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11ef4432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11ef44320b_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44eb659e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Scenario and key questions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Age group and background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  <p:sp>
        <p:nvSpPr>
          <p:cNvPr id="64" name="Google Shape;64;g3144eb659e9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44eb659e9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144eb659e9_1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1ef4432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11ef44320b_0_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1ef44320b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11ef44320b_2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4a574b782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1A1E3B"/>
                </a:solidFill>
                <a:latin typeface="Cabin"/>
                <a:ea typeface="Cabin"/>
                <a:cs typeface="Cabin"/>
                <a:sym typeface="Cabin"/>
              </a:rPr>
              <a:t>Overview of Data</a:t>
            </a:r>
            <a:endParaRPr sz="14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400"/>
              <a:buFont typeface="Cabin"/>
              <a:buChar char="●"/>
            </a:pPr>
            <a:r>
              <a:rPr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Age group ranging from </a:t>
            </a:r>
            <a:r>
              <a:rPr b="1"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50-64</a:t>
            </a:r>
            <a:r>
              <a:rPr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have the </a:t>
            </a:r>
            <a:r>
              <a:rPr b="1"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highest average impressions clicks and spendings</a:t>
            </a:r>
            <a:endParaRPr b="1" sz="14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400"/>
              <a:buFont typeface="Cabin"/>
              <a:buChar char="●"/>
            </a:pPr>
            <a:r>
              <a:rPr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Age group </a:t>
            </a:r>
            <a:r>
              <a:rPr b="1"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18-24</a:t>
            </a:r>
            <a:r>
              <a:rPr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have the l</a:t>
            </a:r>
            <a:r>
              <a:rPr b="1"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owest average impressions clicks and spendings</a:t>
            </a:r>
            <a:endParaRPr b="1" sz="14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1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Let’s dive into what ads your company should keep running to the target age group </a:t>
            </a:r>
            <a:r>
              <a:rPr b="1" lang="en" sz="14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50-64</a:t>
            </a:r>
            <a:endParaRPr/>
          </a:p>
        </p:txBody>
      </p:sp>
      <p:sp>
        <p:nvSpPr>
          <p:cNvPr id="132" name="Google Shape;132;g314a574b782_1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5f204628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Avg clicks 50-64: 6,594 vs 18-24 682 clicks</a:t>
            </a:r>
            <a:endParaRPr/>
          </a:p>
        </p:txBody>
      </p:sp>
      <p:sp>
        <p:nvSpPr>
          <p:cNvPr id="142" name="Google Shape;142;g315f2046287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4a574b78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14a574b782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44eb659e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144eb659e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1ef44320b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11ef44320b_0_2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44eb659e9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144eb659e9_4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44eb659e9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144eb659e9_4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4a574b78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14a574b78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44eb659e9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144eb659e9_4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5a2905cc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2d5a2905cc7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5a2905cc7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d5a2905cc7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d5ba07cc0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d5ba07cc07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5f204628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15f2046287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5ba07cc0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50-64: 91K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34-49: 63K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65+: 52K</a:t>
            </a:r>
            <a:endParaRPr/>
          </a:p>
        </p:txBody>
      </p:sp>
      <p:sp>
        <p:nvSpPr>
          <p:cNvPr id="285" name="Google Shape;285;g2d5ba07cc07_4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d5ba07cc07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d5ba07cc07_3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14a574b78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14a574b78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4a574b782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14a574b782_2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4a574b782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14a574b782_2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4a574b782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14a574b782_2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d5a086480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2d5a0864806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11ef44320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11ef44320b_0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0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1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2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2.jpg"/><Relationship Id="rId5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1.jp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13559" l="12791" r="24507" t="0"/>
          <a:stretch/>
        </p:blipFill>
        <p:spPr>
          <a:xfrm flipH="1">
            <a:off x="3547464" y="0"/>
            <a:ext cx="5596536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2935124" y="-8575"/>
            <a:ext cx="1899920" cy="5160639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57" name="Google Shape;57;p13"/>
          <p:cNvSpPr txBox="1"/>
          <p:nvPr/>
        </p:nvSpPr>
        <p:spPr>
          <a:xfrm>
            <a:off x="484200" y="1202750"/>
            <a:ext cx="31179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7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Marketing Campaign Analysis</a:t>
            </a:r>
            <a:endParaRPr sz="100">
              <a:solidFill>
                <a:srgbClr val="1A1E3B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2581124" y="-8575"/>
            <a:ext cx="1899920" cy="5160639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513" y="586551"/>
            <a:ext cx="3601272" cy="821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242525" y="3395000"/>
            <a:ext cx="33597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8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E3B"/>
                </a:solidFill>
                <a:latin typeface="Cabin"/>
                <a:ea typeface="Cabin"/>
                <a:cs typeface="Cabin"/>
                <a:sym typeface="Cabin"/>
              </a:rPr>
              <a:t>Presented by: Maaz Ansari, Haoxuan Chen, Carolina Cortes-Rivera &amp; Diomarys Hernandez</a:t>
            </a:r>
            <a:endParaRPr sz="1500">
              <a:solidFill>
                <a:srgbClr val="1A1E3B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1" marL="0" marR="0" rtl="0" algn="l">
              <a:lnSpc>
                <a:spcPct val="18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804468" y="1568412"/>
            <a:ext cx="183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126B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Introduction</a:t>
            </a:r>
            <a:endParaRPr sz="700"/>
          </a:p>
        </p:txBody>
      </p:sp>
      <p:sp>
        <p:nvSpPr>
          <p:cNvPr id="67" name="Google Shape;67;p14"/>
          <p:cNvSpPr txBox="1"/>
          <p:nvPr/>
        </p:nvSpPr>
        <p:spPr>
          <a:xfrm>
            <a:off x="822318" y="3167182"/>
            <a:ext cx="1837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.</a:t>
            </a:r>
            <a:endParaRPr sz="700"/>
          </a:p>
        </p:txBody>
      </p:sp>
      <p:sp>
        <p:nvSpPr>
          <p:cNvPr id="68" name="Google Shape;68;p14"/>
          <p:cNvSpPr txBox="1"/>
          <p:nvPr/>
        </p:nvSpPr>
        <p:spPr>
          <a:xfrm>
            <a:off x="503200" y="2855655"/>
            <a:ext cx="237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26B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KPIs &amp; Visuals</a:t>
            </a:r>
            <a:endParaRPr sz="700"/>
          </a:p>
        </p:txBody>
      </p:sp>
      <p:sp>
        <p:nvSpPr>
          <p:cNvPr id="69" name="Google Shape;69;p14"/>
          <p:cNvSpPr txBox="1"/>
          <p:nvPr/>
        </p:nvSpPr>
        <p:spPr>
          <a:xfrm>
            <a:off x="1325809" y="994975"/>
            <a:ext cx="69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207182" y="2264263"/>
            <a:ext cx="97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20510" y="4182204"/>
            <a:ext cx="210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26B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Recap &amp; Insight</a:t>
            </a:r>
            <a:endParaRPr sz="700"/>
          </a:p>
        </p:txBody>
      </p:sp>
      <p:sp>
        <p:nvSpPr>
          <p:cNvPr id="72" name="Google Shape;72;p14"/>
          <p:cNvSpPr txBox="1"/>
          <p:nvPr/>
        </p:nvSpPr>
        <p:spPr>
          <a:xfrm>
            <a:off x="1207183" y="3644519"/>
            <a:ext cx="97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" sz="36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700">
              <a:solidFill>
                <a:srgbClr val="1A1E3B"/>
              </a:solidFill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0" l="19649" r="19649" t="0"/>
          <a:stretch/>
        </p:blipFill>
        <p:spPr>
          <a:xfrm>
            <a:off x="5289300" y="-408902"/>
            <a:ext cx="5055600" cy="5552400"/>
          </a:xfrm>
          <a:prstGeom prst="round2SameRect">
            <a:avLst>
              <a:gd fmla="val 48439" name="adj1"/>
              <a:gd fmla="val 0" name="adj2"/>
            </a:avLst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4693924" y="-8575"/>
            <a:ext cx="1899920" cy="5160639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75" name="Google Shape;75;p14"/>
          <p:cNvSpPr/>
          <p:nvPr/>
        </p:nvSpPr>
        <p:spPr>
          <a:xfrm>
            <a:off x="4862724" y="-1447700"/>
            <a:ext cx="1899920" cy="5160639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76" name="Google Shape;76;p14"/>
          <p:cNvSpPr/>
          <p:nvPr/>
        </p:nvSpPr>
        <p:spPr>
          <a:xfrm>
            <a:off x="5886951" y="572126"/>
            <a:ext cx="1439831" cy="1121000"/>
          </a:xfrm>
          <a:custGeom>
            <a:rect b="b" l="l" r="r" t="t"/>
            <a:pathLst>
              <a:path extrusionOk="0" h="3768068" w="4084626">
                <a:moveTo>
                  <a:pt x="0" y="0"/>
                </a:moveTo>
                <a:lnTo>
                  <a:pt x="4084626" y="0"/>
                </a:lnTo>
                <a:lnTo>
                  <a:pt x="4084626" y="3768068"/>
                </a:lnTo>
                <a:lnTo>
                  <a:pt x="0" y="3768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" name="Google Shape;77;p14"/>
          <p:cNvSpPr txBox="1"/>
          <p:nvPr/>
        </p:nvSpPr>
        <p:spPr>
          <a:xfrm>
            <a:off x="3388625" y="1582700"/>
            <a:ext cx="2292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26B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Client / Audience</a:t>
            </a:r>
            <a:endParaRPr sz="700"/>
          </a:p>
        </p:txBody>
      </p:sp>
      <p:sp>
        <p:nvSpPr>
          <p:cNvPr id="78" name="Google Shape;78;p14"/>
          <p:cNvSpPr txBox="1"/>
          <p:nvPr/>
        </p:nvSpPr>
        <p:spPr>
          <a:xfrm>
            <a:off x="3406473" y="2885467"/>
            <a:ext cx="225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26B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</a:t>
            </a:r>
            <a:r>
              <a:rPr b="1" lang="en" sz="1600">
                <a:solidFill>
                  <a:srgbClr val="0126B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Performance</a:t>
            </a:r>
            <a:endParaRPr sz="700"/>
          </a:p>
        </p:txBody>
      </p:sp>
      <p:sp>
        <p:nvSpPr>
          <p:cNvPr id="79" name="Google Shape;79;p14"/>
          <p:cNvSpPr txBox="1"/>
          <p:nvPr/>
        </p:nvSpPr>
        <p:spPr>
          <a:xfrm>
            <a:off x="4112980" y="994979"/>
            <a:ext cx="80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679572" y="2279138"/>
            <a:ext cx="159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3309913" y="4195218"/>
            <a:ext cx="210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26B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Q&amp;A</a:t>
            </a:r>
            <a:endParaRPr sz="700"/>
          </a:p>
        </p:txBody>
      </p:sp>
      <p:sp>
        <p:nvSpPr>
          <p:cNvPr id="82" name="Google Shape;82;p14"/>
          <p:cNvSpPr txBox="1"/>
          <p:nvPr/>
        </p:nvSpPr>
        <p:spPr>
          <a:xfrm>
            <a:off x="3565060" y="3618706"/>
            <a:ext cx="159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" sz="36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856557" y="346350"/>
            <a:ext cx="466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700">
              <a:solidFill>
                <a:srgbClr val="1A1E3B"/>
              </a:solidFill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5"/>
          <p:cNvPicPr preferRelativeResize="0"/>
          <p:nvPr/>
        </p:nvPicPr>
        <p:blipFill rotWithShape="1">
          <a:blip r:embed="rId3">
            <a:alphaModFix/>
          </a:blip>
          <a:srcRect b="0" l="14015" r="0" t="17437"/>
          <a:stretch/>
        </p:blipFill>
        <p:spPr>
          <a:xfrm>
            <a:off x="-50" y="0"/>
            <a:ext cx="9144049" cy="28894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1082911" y="4151637"/>
            <a:ext cx="240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?</a:t>
            </a:r>
            <a:endParaRPr sz="700"/>
          </a:p>
        </p:txBody>
      </p:sp>
      <p:grpSp>
        <p:nvGrpSpPr>
          <p:cNvPr id="91" name="Google Shape;91;p15"/>
          <p:cNvGrpSpPr/>
          <p:nvPr/>
        </p:nvGrpSpPr>
        <p:grpSpPr>
          <a:xfrm>
            <a:off x="25" y="1757950"/>
            <a:ext cx="9144059" cy="3382914"/>
            <a:chOff x="0" y="-38100"/>
            <a:chExt cx="2408296" cy="2747433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</p:sp>
        <p:sp>
          <p:nvSpPr>
            <p:cNvPr id="93" name="Google Shape;93;p15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5"/>
          <p:cNvSpPr/>
          <p:nvPr/>
        </p:nvSpPr>
        <p:spPr>
          <a:xfrm rot="570569">
            <a:off x="346736" y="4354119"/>
            <a:ext cx="821560" cy="578621"/>
          </a:xfrm>
          <a:custGeom>
            <a:rect b="b" l="l" r="r" t="t"/>
            <a:pathLst>
              <a:path extrusionOk="0" h="1158720" w="1645218">
                <a:moveTo>
                  <a:pt x="0" y="0"/>
                </a:moveTo>
                <a:lnTo>
                  <a:pt x="1645217" y="0"/>
                </a:lnTo>
                <a:lnTo>
                  <a:pt x="1645217" y="1158720"/>
                </a:lnTo>
                <a:lnTo>
                  <a:pt x="0" y="115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5"/>
          <p:cNvSpPr txBox="1"/>
          <p:nvPr/>
        </p:nvSpPr>
        <p:spPr>
          <a:xfrm>
            <a:off x="304572" y="1905318"/>
            <a:ext cx="276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995725" y="2487300"/>
            <a:ext cx="77445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Scenario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Our marketing agency is working with Expedia to help them improve their marketing campaign for 2025. They are seeking a solution to help them reach prospecting audiences and promote their new ad products.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rgbClr val="0126B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Analyze key performance indicators related to ad spend, customer engagement, and behavior to enhance targeted ad strategies and identify the top-performing age groups, countries, and ad types.</a:t>
            </a:r>
            <a:endParaRPr b="1" sz="1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rgbClr val="0126B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34730" r="0" t="0"/>
          <a:stretch/>
        </p:blipFill>
        <p:spPr>
          <a:xfrm>
            <a:off x="6198275" y="-43950"/>
            <a:ext cx="2945726" cy="523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674000" y="1290000"/>
            <a:ext cx="145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Background:</a:t>
            </a:r>
            <a:endParaRPr b="1" sz="16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614558" y="2817954"/>
            <a:ext cx="257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E3B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058999" y="1629754"/>
            <a:ext cx="257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?</a:t>
            </a:r>
            <a:endParaRPr sz="700"/>
          </a:p>
        </p:txBody>
      </p:sp>
      <p:sp>
        <p:nvSpPr>
          <p:cNvPr id="106" name="Google Shape;106;p16"/>
          <p:cNvSpPr/>
          <p:nvPr/>
        </p:nvSpPr>
        <p:spPr>
          <a:xfrm>
            <a:off x="5272325" y="-43950"/>
            <a:ext cx="1899920" cy="5312423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107" name="Google Shape;107;p16"/>
          <p:cNvSpPr/>
          <p:nvPr/>
        </p:nvSpPr>
        <p:spPr>
          <a:xfrm>
            <a:off x="5160175" y="-79800"/>
            <a:ext cx="1899920" cy="5312423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108" name="Google Shape;108;p16"/>
          <p:cNvSpPr txBox="1"/>
          <p:nvPr/>
        </p:nvSpPr>
        <p:spPr>
          <a:xfrm>
            <a:off x="514350" y="353825"/>
            <a:ext cx="359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Our Client: 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432614" y="3182463"/>
            <a:ext cx="2186568" cy="1188947"/>
          </a:xfrm>
          <a:custGeom>
            <a:rect b="b" l="l" r="r" t="t"/>
            <a:pathLst>
              <a:path extrusionOk="0" h="2377893" w="4373137">
                <a:moveTo>
                  <a:pt x="0" y="0"/>
                </a:moveTo>
                <a:lnTo>
                  <a:pt x="4373138" y="0"/>
                </a:lnTo>
                <a:lnTo>
                  <a:pt x="4373138" y="2377894"/>
                </a:lnTo>
                <a:lnTo>
                  <a:pt x="0" y="2377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0" name="Google Shape;11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8425" y="274875"/>
            <a:ext cx="2774386" cy="6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674000" y="3607200"/>
            <a:ext cx="44718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Scope: 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Focus on providing valuable insights by analyzing ad performance across key age groups.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674000" y="1586700"/>
            <a:ext cx="54912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Originally launched in 1996 by Microsoft. Expedia is now a 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popular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online travel platform that allows users to book flights, hotels, rental cars, and vacation packages worldwide. Expedia serves as a primary hub for travelers seeking convenient and competitive booking solutions.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oyalty-Free photo: Photo of brown triumphal arc | PickPik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3863" r="6078" t="0"/>
          <a:stretch/>
        </p:blipFill>
        <p:spPr>
          <a:xfrm>
            <a:off x="0" y="11325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7"/>
          <p:cNvGrpSpPr/>
          <p:nvPr/>
        </p:nvGrpSpPr>
        <p:grpSpPr>
          <a:xfrm>
            <a:off x="0" y="-118576"/>
            <a:ext cx="4095548" cy="5262158"/>
            <a:chOff x="0" y="-38100"/>
            <a:chExt cx="2408296" cy="2747433"/>
          </a:xfrm>
        </p:grpSpPr>
        <p:sp>
          <p:nvSpPr>
            <p:cNvPr id="120" name="Google Shape;120;p1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</p:sp>
        <p:sp>
          <p:nvSpPr>
            <p:cNvPr id="121" name="Google Shape;121;p17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7"/>
          <p:cNvSpPr/>
          <p:nvPr/>
        </p:nvSpPr>
        <p:spPr>
          <a:xfrm>
            <a:off x="1686857" y="3078421"/>
            <a:ext cx="1605487" cy="537838"/>
          </a:xfrm>
          <a:custGeom>
            <a:rect b="b" l="l" r="r" t="t"/>
            <a:pathLst>
              <a:path extrusionOk="0" h="1075676" w="3210974">
                <a:moveTo>
                  <a:pt x="0" y="0"/>
                </a:moveTo>
                <a:lnTo>
                  <a:pt x="3210974" y="0"/>
                </a:lnTo>
                <a:lnTo>
                  <a:pt x="3210974" y="1075676"/>
                </a:lnTo>
                <a:lnTo>
                  <a:pt x="0" y="107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7"/>
          <p:cNvSpPr/>
          <p:nvPr/>
        </p:nvSpPr>
        <p:spPr>
          <a:xfrm rot="482944">
            <a:off x="447200" y="658288"/>
            <a:ext cx="1046296" cy="585926"/>
          </a:xfrm>
          <a:custGeom>
            <a:rect b="b" l="l" r="r" t="t"/>
            <a:pathLst>
              <a:path extrusionOk="0" h="1172027" w="2092905">
                <a:moveTo>
                  <a:pt x="0" y="0"/>
                </a:moveTo>
                <a:lnTo>
                  <a:pt x="2092905" y="0"/>
                </a:lnTo>
                <a:lnTo>
                  <a:pt x="2092905" y="1172027"/>
                </a:lnTo>
                <a:lnTo>
                  <a:pt x="0" y="117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7"/>
          <p:cNvSpPr txBox="1"/>
          <p:nvPr/>
        </p:nvSpPr>
        <p:spPr>
          <a:xfrm>
            <a:off x="974043" y="2647514"/>
            <a:ext cx="2624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25" name="Google Shape;125;p17"/>
          <p:cNvSpPr txBox="1"/>
          <p:nvPr/>
        </p:nvSpPr>
        <p:spPr>
          <a:xfrm>
            <a:off x="7160683" y="4221451"/>
            <a:ext cx="124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\</a:t>
            </a:r>
            <a:endParaRPr sz="700"/>
          </a:p>
        </p:txBody>
      </p:sp>
      <p:sp>
        <p:nvSpPr>
          <p:cNvPr id="126" name="Google Shape;126;p17"/>
          <p:cNvSpPr/>
          <p:nvPr/>
        </p:nvSpPr>
        <p:spPr>
          <a:xfrm>
            <a:off x="3552525" y="-11325"/>
            <a:ext cx="1899920" cy="5166158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127" name="Google Shape;127;p17"/>
          <p:cNvSpPr/>
          <p:nvPr/>
        </p:nvSpPr>
        <p:spPr>
          <a:xfrm>
            <a:off x="3088850" y="-11325"/>
            <a:ext cx="1899920" cy="5166158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128" name="Google Shape;128;p17"/>
          <p:cNvSpPr txBox="1"/>
          <p:nvPr/>
        </p:nvSpPr>
        <p:spPr>
          <a:xfrm>
            <a:off x="866082" y="1475115"/>
            <a:ext cx="33963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Data Overview</a:t>
            </a:r>
            <a:endParaRPr sz="3600">
              <a:solidFill>
                <a:srgbClr val="1A1E3B"/>
              </a:solidFill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548251" y="347850"/>
            <a:ext cx="804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Data Overview</a:t>
            </a:r>
            <a:endParaRPr sz="1000">
              <a:solidFill>
                <a:srgbClr val="1A1E3B"/>
              </a:solidFill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557175" y="3391175"/>
            <a:ext cx="45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700"/>
          </a:p>
        </p:txBody>
      </p:sp>
      <p:sp>
        <p:nvSpPr>
          <p:cNvPr id="136" name="Google Shape;136;p18"/>
          <p:cNvSpPr txBox="1"/>
          <p:nvPr/>
        </p:nvSpPr>
        <p:spPr>
          <a:xfrm>
            <a:off x="1001032" y="4132875"/>
            <a:ext cx="804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Age group </a:t>
            </a:r>
            <a:r>
              <a:rPr b="1"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18-24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have the </a:t>
            </a:r>
            <a:r>
              <a:rPr b="1"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lowest average impressions clicks and spendings</a:t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68422" y="4079027"/>
            <a:ext cx="4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700"/>
          </a:p>
        </p:txBody>
      </p:sp>
      <p:sp>
        <p:nvSpPr>
          <p:cNvPr id="138" name="Google Shape;138;p18"/>
          <p:cNvSpPr txBox="1"/>
          <p:nvPr/>
        </p:nvSpPr>
        <p:spPr>
          <a:xfrm>
            <a:off x="1001027" y="3321125"/>
            <a:ext cx="70494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Age group ranging from </a:t>
            </a:r>
            <a:r>
              <a:rPr b="1"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50-64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have the </a:t>
            </a:r>
            <a:r>
              <a:rPr b="1"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highest average impressions, clicks and spendings</a:t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139" name="Google Shape;139;p18"/>
          <p:cNvGraphicFramePr/>
          <p:nvPr/>
        </p:nvGraphicFramePr>
        <p:xfrm>
          <a:off x="1355163" y="78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{6809295C-BCD8-4499-8560-DB85E6732EAB}</a:tableStyleId>
              </a:tblPr>
              <a:tblGrid>
                <a:gridCol w="1862075"/>
                <a:gridCol w="1476250"/>
                <a:gridCol w="1140725"/>
                <a:gridCol w="1862075"/>
              </a:tblGrid>
              <a:tr h="179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Age Group</a:t>
                      </a:r>
                      <a:endParaRPr i="1" sz="1100"/>
                    </a:p>
                  </a:txBody>
                  <a:tcPr marT="91425" marB="91425" marR="28575" marL="28575" anchor="b">
                    <a:lnB cap="flat" cmpd="sng" w="28575">
                      <a:solidFill>
                        <a:srgbClr val="3953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</a:rPr>
                        <a:t>SUM of Impressions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b">
                    <a:lnB cap="flat" cmpd="sng" w="28575">
                      <a:solidFill>
                        <a:srgbClr val="3953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53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</a:rPr>
                        <a:t>SUM of Clicks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b">
                    <a:lnB cap="flat" cmpd="sng" w="28575">
                      <a:solidFill>
                        <a:srgbClr val="3953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53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</a:rPr>
                        <a:t>SUM of Spend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b">
                    <a:lnB cap="flat" cmpd="sng" w="28575">
                      <a:solidFill>
                        <a:srgbClr val="3953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9535E"/>
                    </a:solidFill>
                  </a:tcPr>
                </a:tc>
              </a:tr>
              <a:tr h="20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18-24</a:t>
                      </a:r>
                      <a:endParaRPr/>
                    </a:p>
                  </a:txBody>
                  <a:tcPr marT="91425" marB="91425" marR="28575" marL="28575" anchor="b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3953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907,363,446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3953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32,532,618</a:t>
                      </a:r>
                      <a:endParaRPr/>
                    </a:p>
                  </a:txBody>
                  <a:tcPr marT="91425" marB="91425" marR="28575" marL="28575" anchor="b">
                    <a:lnT cap="flat" cmpd="sng" w="28575">
                      <a:solidFill>
                        <a:srgbClr val="3953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42864803.6</a:t>
                      </a:r>
                      <a:endParaRPr/>
                    </a:p>
                  </a:txBody>
                  <a:tcPr marT="91425" marB="91425" marR="28575" marL="28575" anchor="b">
                    <a:lnT cap="flat" cmpd="sng" w="28575">
                      <a:solidFill>
                        <a:srgbClr val="3953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20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25-34</a:t>
                      </a:r>
                      <a:endParaRPr/>
                    </a:p>
                  </a:txBody>
                  <a:tcPr marT="91425" marB="91425" marR="28575" marL="28575" anchor="b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1,970,566,953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2F4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77,194,896</a:t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$100,395,619.81</a:t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E5F5ED"/>
                    </a:solidFill>
                  </a:tcPr>
                </a:tc>
              </a:tr>
              <a:tr h="20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35-49</a:t>
                      </a:r>
                      <a:endParaRPr/>
                    </a:p>
                  </a:txBody>
                  <a:tcPr marT="91425" marB="91425" marR="28575" marL="28575" anchor="b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5,410,417,893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84C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224,555,403</a:t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8DD1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$283,457,120.53</a:t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8FD2B1"/>
                    </a:solidFill>
                  </a:tcPr>
                </a:tc>
              </a:tr>
              <a:tr h="20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50-64</a:t>
                      </a:r>
                      <a:endParaRPr/>
                    </a:p>
                  </a:txBody>
                  <a:tcPr marT="91425" marB="91425" marR="28575" marL="28575" anchor="b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7,024,265,697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314,772,768</a:t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$403,133,007.78</a:t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57BB8A"/>
                    </a:solidFill>
                  </a:tcPr>
                </a:tc>
              </a:tr>
              <a:tr h="207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65+</a:t>
                      </a:r>
                      <a:endParaRPr/>
                    </a:p>
                  </a:txBody>
                  <a:tcPr marT="91425" marB="91425" marR="28575" marL="28575" anchor="b"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3,798,107,766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0DF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183,822,879</a:t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A5DB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$258,613,365.46</a:t>
                      </a:r>
                      <a:endParaRPr/>
                    </a:p>
                  </a:txBody>
                  <a:tcPr marT="91425" marB="91425" marR="28575" marL="28575" anchor="b">
                    <a:solidFill>
                      <a:srgbClr val="9BD7B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90397" y="1093002"/>
            <a:ext cx="4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n" sz="2100" u="none" cap="none" strike="noStrike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700"/>
          </a:p>
        </p:txBody>
      </p:sp>
      <p:sp>
        <p:nvSpPr>
          <p:cNvPr id="145" name="Google Shape;145;p19"/>
          <p:cNvSpPr txBox="1"/>
          <p:nvPr/>
        </p:nvSpPr>
        <p:spPr>
          <a:xfrm>
            <a:off x="827101" y="1093000"/>
            <a:ext cx="1806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50-64 yr olds engage the most with ads but were also spending the most on them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827101" y="3007900"/>
            <a:ext cx="18066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Overall, we spent $403M to get 7B impressions and 314M clicks for this age group</a:t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16350" y="3007900"/>
            <a:ext cx="3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" sz="21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700"/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3900" y="558500"/>
            <a:ext cx="5836148" cy="476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759900" y="154000"/>
            <a:ext cx="7624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Ad Engagement by Age Group</a:t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1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SUM Impressions, Clicks and Spend Across Age Groups</a:t>
            </a:r>
            <a:endParaRPr b="1" sz="110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/>
        </p:nvSpPr>
        <p:spPr>
          <a:xfrm>
            <a:off x="548251" y="407650"/>
            <a:ext cx="804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Demographics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157" name="Google Shape;157;p20"/>
          <p:cNvSpPr txBox="1"/>
          <p:nvPr/>
        </p:nvSpPr>
        <p:spPr>
          <a:xfrm rot="-5400000">
            <a:off x="517097" y="1921902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8" name="Google Shape;158;p20"/>
          <p:cNvSpPr txBox="1"/>
          <p:nvPr/>
        </p:nvSpPr>
        <p:spPr>
          <a:xfrm rot="-5400000">
            <a:off x="517097" y="3014827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9" name="Google Shape;159;p20"/>
          <p:cNvSpPr/>
          <p:nvPr/>
        </p:nvSpPr>
        <p:spPr>
          <a:xfrm>
            <a:off x="548256" y="331183"/>
            <a:ext cx="1605487" cy="537838"/>
          </a:xfrm>
          <a:custGeom>
            <a:rect b="b" l="l" r="r" t="t"/>
            <a:pathLst>
              <a:path extrusionOk="0" h="1075676" w="3210974">
                <a:moveTo>
                  <a:pt x="0" y="0"/>
                </a:moveTo>
                <a:lnTo>
                  <a:pt x="3210974" y="0"/>
                </a:lnTo>
                <a:lnTo>
                  <a:pt x="3210974" y="1075676"/>
                </a:lnTo>
                <a:lnTo>
                  <a:pt x="0" y="107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0" name="Google Shape;160;p2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450" y="1154350"/>
            <a:ext cx="4058925" cy="250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3650" y="1140963"/>
            <a:ext cx="4627875" cy="286156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4423650" y="3931500"/>
            <a:ext cx="38079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1" sz="2100">
              <a:solidFill>
                <a:srgbClr val="F5655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The customer base we studied reside in U.S, U.K, and Canada</a:t>
            </a:r>
            <a:endParaRPr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04450" y="3722725"/>
            <a:ext cx="38079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1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1" sz="2100">
              <a:solidFill>
                <a:srgbClr val="F5655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Approximately ⅓ of Male consumers are more interested in our ads compared to females</a:t>
            </a:r>
            <a:endParaRPr sz="150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 rot="154594">
            <a:off x="348606" y="1436900"/>
            <a:ext cx="1480293" cy="2769256"/>
          </a:xfrm>
          <a:custGeom>
            <a:rect b="b" l="l" r="r" t="t"/>
            <a:pathLst>
              <a:path extrusionOk="0" h="5532912" w="2957593">
                <a:moveTo>
                  <a:pt x="0" y="0"/>
                </a:moveTo>
                <a:lnTo>
                  <a:pt x="2957593" y="0"/>
                </a:lnTo>
                <a:lnTo>
                  <a:pt x="2957593" y="5532912"/>
                </a:lnTo>
                <a:lnTo>
                  <a:pt x="0" y="553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21"/>
          <p:cNvSpPr/>
          <p:nvPr/>
        </p:nvSpPr>
        <p:spPr>
          <a:xfrm rot="-310108">
            <a:off x="2672950" y="1434574"/>
            <a:ext cx="1477409" cy="2763861"/>
          </a:xfrm>
          <a:custGeom>
            <a:rect b="b" l="l" r="r" t="t"/>
            <a:pathLst>
              <a:path extrusionOk="0" h="5532912" w="2957593">
                <a:moveTo>
                  <a:pt x="0" y="0"/>
                </a:moveTo>
                <a:lnTo>
                  <a:pt x="2957592" y="0"/>
                </a:lnTo>
                <a:lnTo>
                  <a:pt x="2957592" y="5532912"/>
                </a:lnTo>
                <a:lnTo>
                  <a:pt x="0" y="553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21"/>
          <p:cNvSpPr/>
          <p:nvPr/>
        </p:nvSpPr>
        <p:spPr>
          <a:xfrm rot="137437">
            <a:off x="4989945" y="1437662"/>
            <a:ext cx="1479979" cy="2768668"/>
          </a:xfrm>
          <a:custGeom>
            <a:rect b="b" l="l" r="r" t="t"/>
            <a:pathLst>
              <a:path extrusionOk="0" h="5532912" w="2957593">
                <a:moveTo>
                  <a:pt x="0" y="0"/>
                </a:moveTo>
                <a:lnTo>
                  <a:pt x="2957593" y="0"/>
                </a:lnTo>
                <a:lnTo>
                  <a:pt x="2957593" y="5532912"/>
                </a:lnTo>
                <a:lnTo>
                  <a:pt x="0" y="553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1"/>
          <p:cNvSpPr/>
          <p:nvPr/>
        </p:nvSpPr>
        <p:spPr>
          <a:xfrm rot="-154594">
            <a:off x="7312842" y="1437709"/>
            <a:ext cx="1480293" cy="2769256"/>
          </a:xfrm>
          <a:custGeom>
            <a:rect b="b" l="l" r="r" t="t"/>
            <a:pathLst>
              <a:path extrusionOk="0" h="5532912" w="2957593">
                <a:moveTo>
                  <a:pt x="0" y="0"/>
                </a:moveTo>
                <a:lnTo>
                  <a:pt x="2957593" y="0"/>
                </a:lnTo>
                <a:lnTo>
                  <a:pt x="2957593" y="5532912"/>
                </a:lnTo>
                <a:lnTo>
                  <a:pt x="0" y="553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21"/>
          <p:cNvSpPr txBox="1"/>
          <p:nvPr/>
        </p:nvSpPr>
        <p:spPr>
          <a:xfrm>
            <a:off x="514350" y="606581"/>
            <a:ext cx="40578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KPI’s Analyzed</a:t>
            </a:r>
            <a:endParaRPr sz="1300">
              <a:solidFill>
                <a:srgbClr val="1A1E3B"/>
              </a:solidFill>
            </a:endParaRPr>
          </a:p>
        </p:txBody>
      </p:sp>
      <p:sp>
        <p:nvSpPr>
          <p:cNvPr id="173" name="Google Shape;173;p21"/>
          <p:cNvSpPr txBox="1"/>
          <p:nvPr/>
        </p:nvSpPr>
        <p:spPr>
          <a:xfrm rot="151393">
            <a:off x="532562" y="2392624"/>
            <a:ext cx="1131197" cy="446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>
              <a:solidFill>
                <a:srgbClr val="1A1E3B"/>
              </a:solidFill>
            </a:endParaRPr>
          </a:p>
        </p:txBody>
      </p:sp>
      <p:sp>
        <p:nvSpPr>
          <p:cNvPr id="174" name="Google Shape;174;p21"/>
          <p:cNvSpPr txBox="1"/>
          <p:nvPr/>
        </p:nvSpPr>
        <p:spPr>
          <a:xfrm rot="-303081">
            <a:off x="2826083" y="2393259"/>
            <a:ext cx="1131193" cy="446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CPC</a:t>
            </a:r>
            <a:endParaRPr sz="2900">
              <a:solidFill>
                <a:srgbClr val="1A1E3B"/>
              </a:solidFill>
            </a:endParaRPr>
          </a:p>
        </p:txBody>
      </p:sp>
      <p:sp>
        <p:nvSpPr>
          <p:cNvPr id="175" name="Google Shape;175;p21"/>
          <p:cNvSpPr txBox="1"/>
          <p:nvPr/>
        </p:nvSpPr>
        <p:spPr>
          <a:xfrm rot="130404">
            <a:off x="5174193" y="2392574"/>
            <a:ext cx="1131214" cy="446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CAC</a:t>
            </a:r>
            <a:endParaRPr sz="2900">
              <a:solidFill>
                <a:srgbClr val="1A1E3B"/>
              </a:solidFill>
            </a:endParaRPr>
          </a:p>
        </p:txBody>
      </p:sp>
      <p:sp>
        <p:nvSpPr>
          <p:cNvPr id="176" name="Google Shape;176;p21"/>
          <p:cNvSpPr txBox="1"/>
          <p:nvPr/>
        </p:nvSpPr>
        <p:spPr>
          <a:xfrm rot="-160500">
            <a:off x="7458000" y="2231200"/>
            <a:ext cx="1131333" cy="44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endParaRPr sz="2900">
              <a:solidFill>
                <a:srgbClr val="1A1E3B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 rot="151606">
            <a:off x="298494" y="2906877"/>
            <a:ext cx="1565122" cy="1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Click Through Rate</a:t>
            </a:r>
            <a:endParaRPr sz="700"/>
          </a:p>
        </p:txBody>
      </p:sp>
      <p:sp>
        <p:nvSpPr>
          <p:cNvPr id="178" name="Google Shape;178;p21"/>
          <p:cNvSpPr txBox="1"/>
          <p:nvPr/>
        </p:nvSpPr>
        <p:spPr>
          <a:xfrm rot="-302837">
            <a:off x="2643025" y="2906406"/>
            <a:ext cx="1565169" cy="18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Cost Per Click</a:t>
            </a:r>
            <a:endParaRPr sz="700"/>
          </a:p>
        </p:txBody>
      </p:sp>
      <p:sp>
        <p:nvSpPr>
          <p:cNvPr id="179" name="Google Shape;179;p21"/>
          <p:cNvSpPr txBox="1"/>
          <p:nvPr/>
        </p:nvSpPr>
        <p:spPr>
          <a:xfrm rot="130485">
            <a:off x="4943339" y="2906920"/>
            <a:ext cx="1565327" cy="154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Customer Acquisition Cost</a:t>
            </a:r>
            <a:endParaRPr sz="500"/>
          </a:p>
        </p:txBody>
      </p:sp>
      <p:sp>
        <p:nvSpPr>
          <p:cNvPr id="180" name="Google Shape;180;p21"/>
          <p:cNvSpPr txBox="1"/>
          <p:nvPr/>
        </p:nvSpPr>
        <p:spPr>
          <a:xfrm rot="-160821">
            <a:off x="7280189" y="2906875"/>
            <a:ext cx="1565312" cy="154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Cost Per Thousand</a:t>
            </a:r>
            <a:endParaRPr sz="500"/>
          </a:p>
        </p:txBody>
      </p:sp>
      <p:sp>
        <p:nvSpPr>
          <p:cNvPr id="181" name="Google Shape;181;p21"/>
          <p:cNvSpPr txBox="1"/>
          <p:nvPr/>
        </p:nvSpPr>
        <p:spPr>
          <a:xfrm rot="151651">
            <a:off x="428501" y="3286422"/>
            <a:ext cx="1258524" cy="4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Clicks / Impressions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 rot="-302763">
            <a:off x="2843726" y="3284354"/>
            <a:ext cx="1258578" cy="49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Total ad cost/ total clicks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 rot="131117">
            <a:off x="5070880" y="3286606"/>
            <a:ext cx="1258815" cy="77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Total spend/ total impressions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 rot="-160759">
            <a:off x="7412778" y="3286437"/>
            <a:ext cx="1322045" cy="775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(Total Spend/ Impressions) * 1000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-87882" y="1435317"/>
            <a:ext cx="9689307" cy="260985"/>
          </a:xfrm>
          <a:custGeom>
            <a:rect b="b" l="l" r="r" t="t"/>
            <a:pathLst>
              <a:path extrusionOk="0" h="695960" w="25838151">
                <a:moveTo>
                  <a:pt x="20320" y="623570"/>
                </a:moveTo>
                <a:cubicBezTo>
                  <a:pt x="1543050" y="492760"/>
                  <a:pt x="1621790" y="473710"/>
                  <a:pt x="1747520" y="443230"/>
                </a:cubicBezTo>
                <a:cubicBezTo>
                  <a:pt x="1884680" y="410210"/>
                  <a:pt x="2040890" y="353060"/>
                  <a:pt x="2172970" y="320040"/>
                </a:cubicBezTo>
                <a:cubicBezTo>
                  <a:pt x="2286000" y="292100"/>
                  <a:pt x="2376170" y="270510"/>
                  <a:pt x="2490470" y="251460"/>
                </a:cubicBezTo>
                <a:cubicBezTo>
                  <a:pt x="2621280" y="228600"/>
                  <a:pt x="2777490" y="208280"/>
                  <a:pt x="2914650" y="198120"/>
                </a:cubicBezTo>
                <a:cubicBezTo>
                  <a:pt x="3044190" y="187960"/>
                  <a:pt x="3158490" y="190500"/>
                  <a:pt x="3291840" y="189230"/>
                </a:cubicBezTo>
                <a:cubicBezTo>
                  <a:pt x="3441700" y="187960"/>
                  <a:pt x="3647440" y="184150"/>
                  <a:pt x="3769360" y="189230"/>
                </a:cubicBezTo>
                <a:cubicBezTo>
                  <a:pt x="3845560" y="191770"/>
                  <a:pt x="3864610" y="193040"/>
                  <a:pt x="3953510" y="204470"/>
                </a:cubicBezTo>
                <a:cubicBezTo>
                  <a:pt x="4191000" y="233680"/>
                  <a:pt x="4898390" y="378460"/>
                  <a:pt x="5250180" y="422910"/>
                </a:cubicBezTo>
                <a:cubicBezTo>
                  <a:pt x="5490210" y="453390"/>
                  <a:pt x="5621020" y="457200"/>
                  <a:pt x="5859780" y="473710"/>
                </a:cubicBezTo>
                <a:cubicBezTo>
                  <a:pt x="6198870" y="496570"/>
                  <a:pt x="6805930" y="532130"/>
                  <a:pt x="7092950" y="541020"/>
                </a:cubicBezTo>
                <a:cubicBezTo>
                  <a:pt x="7246620" y="546100"/>
                  <a:pt x="7321550" y="551180"/>
                  <a:pt x="7446010" y="542290"/>
                </a:cubicBezTo>
                <a:cubicBezTo>
                  <a:pt x="7586980" y="532130"/>
                  <a:pt x="7735570" y="488950"/>
                  <a:pt x="7895590" y="473710"/>
                </a:cubicBezTo>
                <a:cubicBezTo>
                  <a:pt x="8075930" y="457200"/>
                  <a:pt x="8298180" y="463550"/>
                  <a:pt x="8475980" y="452120"/>
                </a:cubicBezTo>
                <a:cubicBezTo>
                  <a:pt x="8628380" y="441960"/>
                  <a:pt x="8729980" y="425450"/>
                  <a:pt x="8901430" y="414020"/>
                </a:cubicBezTo>
                <a:cubicBezTo>
                  <a:pt x="9160510" y="397510"/>
                  <a:pt x="9575800" y="379730"/>
                  <a:pt x="9878060" y="372110"/>
                </a:cubicBezTo>
                <a:cubicBezTo>
                  <a:pt x="10140950" y="365760"/>
                  <a:pt x="10387330" y="365760"/>
                  <a:pt x="10614660" y="369570"/>
                </a:cubicBezTo>
                <a:cubicBezTo>
                  <a:pt x="10811510" y="373380"/>
                  <a:pt x="10957560" y="375920"/>
                  <a:pt x="11167110" y="389890"/>
                </a:cubicBezTo>
                <a:cubicBezTo>
                  <a:pt x="11443970" y="407670"/>
                  <a:pt x="11912600" y="467360"/>
                  <a:pt x="12129770" y="480060"/>
                </a:cubicBezTo>
                <a:cubicBezTo>
                  <a:pt x="12240260" y="486410"/>
                  <a:pt x="12272010" y="480060"/>
                  <a:pt x="12381230" y="485140"/>
                </a:cubicBezTo>
                <a:cubicBezTo>
                  <a:pt x="12586970" y="495300"/>
                  <a:pt x="12985751" y="539750"/>
                  <a:pt x="13270229" y="551180"/>
                </a:cubicBezTo>
                <a:cubicBezTo>
                  <a:pt x="13534390" y="562610"/>
                  <a:pt x="13784579" y="563880"/>
                  <a:pt x="14032229" y="558800"/>
                </a:cubicBezTo>
                <a:cubicBezTo>
                  <a:pt x="14268451" y="553720"/>
                  <a:pt x="14513560" y="538480"/>
                  <a:pt x="14725651" y="520700"/>
                </a:cubicBezTo>
                <a:cubicBezTo>
                  <a:pt x="14905990" y="505460"/>
                  <a:pt x="15055851" y="477520"/>
                  <a:pt x="15223490" y="463550"/>
                </a:cubicBezTo>
                <a:cubicBezTo>
                  <a:pt x="15393670" y="448310"/>
                  <a:pt x="15539720" y="450850"/>
                  <a:pt x="15741651" y="433070"/>
                </a:cubicBezTo>
                <a:cubicBezTo>
                  <a:pt x="16028670" y="408940"/>
                  <a:pt x="16539210" y="339090"/>
                  <a:pt x="16781779" y="317500"/>
                </a:cubicBezTo>
                <a:cubicBezTo>
                  <a:pt x="16911320" y="306070"/>
                  <a:pt x="16946879" y="302260"/>
                  <a:pt x="17081501" y="297180"/>
                </a:cubicBezTo>
                <a:cubicBezTo>
                  <a:pt x="17362170" y="285750"/>
                  <a:pt x="17912079" y="267970"/>
                  <a:pt x="18379440" y="281940"/>
                </a:cubicBezTo>
                <a:cubicBezTo>
                  <a:pt x="18929351" y="298450"/>
                  <a:pt x="19715479" y="360680"/>
                  <a:pt x="20175220" y="412750"/>
                </a:cubicBezTo>
                <a:cubicBezTo>
                  <a:pt x="20464779" y="445770"/>
                  <a:pt x="20659090" y="499110"/>
                  <a:pt x="20880070" y="519430"/>
                </a:cubicBezTo>
                <a:cubicBezTo>
                  <a:pt x="21074379" y="537210"/>
                  <a:pt x="21206460" y="535940"/>
                  <a:pt x="21428710" y="539750"/>
                </a:cubicBezTo>
                <a:cubicBezTo>
                  <a:pt x="21771610" y="546100"/>
                  <a:pt x="22409151" y="560070"/>
                  <a:pt x="22738079" y="543560"/>
                </a:cubicBezTo>
                <a:cubicBezTo>
                  <a:pt x="22938740" y="533400"/>
                  <a:pt x="23055579" y="519430"/>
                  <a:pt x="23220679" y="494030"/>
                </a:cubicBezTo>
                <a:cubicBezTo>
                  <a:pt x="23397210" y="466090"/>
                  <a:pt x="23567390" y="408940"/>
                  <a:pt x="23761701" y="378460"/>
                </a:cubicBezTo>
                <a:cubicBezTo>
                  <a:pt x="23985220" y="344170"/>
                  <a:pt x="24260810" y="342900"/>
                  <a:pt x="24490679" y="309880"/>
                </a:cubicBezTo>
                <a:cubicBezTo>
                  <a:pt x="24698960" y="279400"/>
                  <a:pt x="24875490" y="240030"/>
                  <a:pt x="25082501" y="194310"/>
                </a:cubicBezTo>
                <a:cubicBezTo>
                  <a:pt x="25311101" y="143510"/>
                  <a:pt x="25721310" y="0"/>
                  <a:pt x="25803860" y="12700"/>
                </a:cubicBezTo>
                <a:cubicBezTo>
                  <a:pt x="25822910" y="15240"/>
                  <a:pt x="25831801" y="24130"/>
                  <a:pt x="25835610" y="31750"/>
                </a:cubicBezTo>
                <a:cubicBezTo>
                  <a:pt x="25838151" y="38100"/>
                  <a:pt x="25834340" y="49530"/>
                  <a:pt x="25829260" y="54610"/>
                </a:cubicBezTo>
                <a:cubicBezTo>
                  <a:pt x="25822910" y="59690"/>
                  <a:pt x="25806401" y="63500"/>
                  <a:pt x="25798779" y="59690"/>
                </a:cubicBezTo>
                <a:cubicBezTo>
                  <a:pt x="25791160" y="55880"/>
                  <a:pt x="25784810" y="39370"/>
                  <a:pt x="25786079" y="31750"/>
                </a:cubicBezTo>
                <a:cubicBezTo>
                  <a:pt x="25787351" y="24130"/>
                  <a:pt x="25801320" y="11430"/>
                  <a:pt x="25808940" y="11430"/>
                </a:cubicBezTo>
                <a:cubicBezTo>
                  <a:pt x="25817829" y="11430"/>
                  <a:pt x="25834340" y="27940"/>
                  <a:pt x="25835610" y="36830"/>
                </a:cubicBezTo>
                <a:cubicBezTo>
                  <a:pt x="25836879" y="44450"/>
                  <a:pt x="25830529" y="53340"/>
                  <a:pt x="25816560" y="62230"/>
                </a:cubicBezTo>
                <a:cubicBezTo>
                  <a:pt x="25749251" y="106680"/>
                  <a:pt x="25298401" y="198120"/>
                  <a:pt x="25092660" y="245110"/>
                </a:cubicBezTo>
                <a:cubicBezTo>
                  <a:pt x="24941529" y="279400"/>
                  <a:pt x="24808179" y="306070"/>
                  <a:pt x="24697690" y="326390"/>
                </a:cubicBezTo>
                <a:cubicBezTo>
                  <a:pt x="24618951" y="341630"/>
                  <a:pt x="24584660" y="349250"/>
                  <a:pt x="24495760" y="360680"/>
                </a:cubicBezTo>
                <a:cubicBezTo>
                  <a:pt x="24329390" y="382270"/>
                  <a:pt x="23994110" y="394970"/>
                  <a:pt x="23770590" y="429260"/>
                </a:cubicBezTo>
                <a:cubicBezTo>
                  <a:pt x="23575010" y="459740"/>
                  <a:pt x="23403560" y="516890"/>
                  <a:pt x="23227029" y="544830"/>
                </a:cubicBezTo>
                <a:cubicBezTo>
                  <a:pt x="23060660" y="571500"/>
                  <a:pt x="22941279" y="584200"/>
                  <a:pt x="22738079" y="594360"/>
                </a:cubicBezTo>
                <a:cubicBezTo>
                  <a:pt x="22406610" y="610870"/>
                  <a:pt x="21771610" y="596900"/>
                  <a:pt x="21427440" y="590550"/>
                </a:cubicBezTo>
                <a:cubicBezTo>
                  <a:pt x="21203920" y="586740"/>
                  <a:pt x="21069301" y="588010"/>
                  <a:pt x="20874990" y="570230"/>
                </a:cubicBezTo>
                <a:cubicBezTo>
                  <a:pt x="20654010" y="549910"/>
                  <a:pt x="20460970" y="496570"/>
                  <a:pt x="20171410" y="463550"/>
                </a:cubicBezTo>
                <a:cubicBezTo>
                  <a:pt x="19711670" y="411480"/>
                  <a:pt x="18928079" y="349250"/>
                  <a:pt x="18379440" y="332740"/>
                </a:cubicBezTo>
                <a:cubicBezTo>
                  <a:pt x="17913351" y="318770"/>
                  <a:pt x="17526001" y="323850"/>
                  <a:pt x="17085310" y="347980"/>
                </a:cubicBezTo>
                <a:cubicBezTo>
                  <a:pt x="16623029" y="373380"/>
                  <a:pt x="16005810" y="463550"/>
                  <a:pt x="15667990" y="490220"/>
                </a:cubicBezTo>
                <a:cubicBezTo>
                  <a:pt x="15480029" y="504190"/>
                  <a:pt x="15379701" y="501650"/>
                  <a:pt x="15228570" y="514350"/>
                </a:cubicBezTo>
                <a:cubicBezTo>
                  <a:pt x="15067279" y="528320"/>
                  <a:pt x="14909801" y="556260"/>
                  <a:pt x="14729460" y="571500"/>
                </a:cubicBezTo>
                <a:cubicBezTo>
                  <a:pt x="14516101" y="589280"/>
                  <a:pt x="14269720" y="604520"/>
                  <a:pt x="14032229" y="609600"/>
                </a:cubicBezTo>
                <a:cubicBezTo>
                  <a:pt x="13783310" y="614680"/>
                  <a:pt x="13530579" y="613410"/>
                  <a:pt x="13266420" y="601980"/>
                </a:cubicBezTo>
                <a:cubicBezTo>
                  <a:pt x="12981940" y="590550"/>
                  <a:pt x="12586970" y="546100"/>
                  <a:pt x="12379960" y="535940"/>
                </a:cubicBezTo>
                <a:cubicBezTo>
                  <a:pt x="12269470" y="530860"/>
                  <a:pt x="12236450" y="535940"/>
                  <a:pt x="12123420" y="529590"/>
                </a:cubicBezTo>
                <a:cubicBezTo>
                  <a:pt x="11906250" y="516890"/>
                  <a:pt x="11442700" y="458470"/>
                  <a:pt x="11167110" y="440690"/>
                </a:cubicBezTo>
                <a:cubicBezTo>
                  <a:pt x="10957560" y="426720"/>
                  <a:pt x="10811510" y="424180"/>
                  <a:pt x="10614660" y="420370"/>
                </a:cubicBezTo>
                <a:cubicBezTo>
                  <a:pt x="10387330" y="416560"/>
                  <a:pt x="10144760" y="416560"/>
                  <a:pt x="9883140" y="422910"/>
                </a:cubicBezTo>
                <a:cubicBezTo>
                  <a:pt x="9580880" y="430530"/>
                  <a:pt x="9166860" y="448310"/>
                  <a:pt x="8907780" y="464820"/>
                </a:cubicBezTo>
                <a:cubicBezTo>
                  <a:pt x="8735060" y="476250"/>
                  <a:pt x="8630920" y="492760"/>
                  <a:pt x="8475980" y="502920"/>
                </a:cubicBezTo>
                <a:cubicBezTo>
                  <a:pt x="8298180" y="514350"/>
                  <a:pt x="8081010" y="506730"/>
                  <a:pt x="7900670" y="523240"/>
                </a:cubicBezTo>
                <a:cubicBezTo>
                  <a:pt x="7739380" y="538480"/>
                  <a:pt x="7599680" y="581660"/>
                  <a:pt x="7446010" y="593090"/>
                </a:cubicBezTo>
                <a:cubicBezTo>
                  <a:pt x="7291070" y="604520"/>
                  <a:pt x="7170420" y="595630"/>
                  <a:pt x="6977380" y="589280"/>
                </a:cubicBezTo>
                <a:cubicBezTo>
                  <a:pt x="6663690" y="579120"/>
                  <a:pt x="6060440" y="538480"/>
                  <a:pt x="5740400" y="515620"/>
                </a:cubicBezTo>
                <a:cubicBezTo>
                  <a:pt x="5537200" y="500380"/>
                  <a:pt x="5447030" y="497840"/>
                  <a:pt x="5242560" y="472440"/>
                </a:cubicBezTo>
                <a:cubicBezTo>
                  <a:pt x="4912360" y="430530"/>
                  <a:pt x="4184650" y="284480"/>
                  <a:pt x="3949700" y="255270"/>
                </a:cubicBezTo>
                <a:cubicBezTo>
                  <a:pt x="3862070" y="243840"/>
                  <a:pt x="3844290" y="242570"/>
                  <a:pt x="3769360" y="240030"/>
                </a:cubicBezTo>
                <a:cubicBezTo>
                  <a:pt x="3648710" y="234950"/>
                  <a:pt x="3441700" y="238760"/>
                  <a:pt x="3291840" y="240030"/>
                </a:cubicBezTo>
                <a:cubicBezTo>
                  <a:pt x="3159760" y="241300"/>
                  <a:pt x="3046730" y="238760"/>
                  <a:pt x="2919730" y="247650"/>
                </a:cubicBezTo>
                <a:cubicBezTo>
                  <a:pt x="2783840" y="257810"/>
                  <a:pt x="2628900" y="279400"/>
                  <a:pt x="2499360" y="300990"/>
                </a:cubicBezTo>
                <a:cubicBezTo>
                  <a:pt x="2387600" y="320040"/>
                  <a:pt x="2291080" y="341630"/>
                  <a:pt x="2189480" y="368300"/>
                </a:cubicBezTo>
                <a:cubicBezTo>
                  <a:pt x="2087880" y="394970"/>
                  <a:pt x="2004060" y="431800"/>
                  <a:pt x="1891030" y="461010"/>
                </a:cubicBezTo>
                <a:cubicBezTo>
                  <a:pt x="1744980" y="499110"/>
                  <a:pt x="1596390" y="535940"/>
                  <a:pt x="1385570" y="566420"/>
                </a:cubicBezTo>
                <a:cubicBezTo>
                  <a:pt x="1045210" y="614680"/>
                  <a:pt x="149860" y="695960"/>
                  <a:pt x="33020" y="673100"/>
                </a:cubicBezTo>
                <a:cubicBezTo>
                  <a:pt x="13970" y="669290"/>
                  <a:pt x="5080" y="665480"/>
                  <a:pt x="2540" y="657860"/>
                </a:cubicBezTo>
                <a:cubicBezTo>
                  <a:pt x="0" y="648970"/>
                  <a:pt x="20320" y="623570"/>
                  <a:pt x="20320" y="623570"/>
                </a:cubicBezTo>
              </a:path>
            </a:pathLst>
          </a:custGeom>
          <a:solidFill>
            <a:srgbClr val="0126B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 rot="395572">
            <a:off x="6937913" y="41127"/>
            <a:ext cx="1855329" cy="1175947"/>
          </a:xfrm>
          <a:custGeom>
            <a:rect b="b" l="l" r="r" t="t"/>
            <a:pathLst>
              <a:path extrusionOk="0" h="2348082" w="3704643">
                <a:moveTo>
                  <a:pt x="0" y="0"/>
                </a:moveTo>
                <a:lnTo>
                  <a:pt x="3704642" y="0"/>
                </a:lnTo>
                <a:lnTo>
                  <a:pt x="3704642" y="2348082"/>
                </a:lnTo>
                <a:lnTo>
                  <a:pt x="0" y="2348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7" name="Google Shape;18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548251" y="237550"/>
            <a:ext cx="804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CTR: Click Through Rate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624797" y="1814202"/>
            <a:ext cx="4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700"/>
          </a:p>
        </p:txBody>
      </p:sp>
      <p:sp>
        <p:nvSpPr>
          <p:cNvPr id="194" name="Google Shape;194;p22"/>
          <p:cNvSpPr txBox="1"/>
          <p:nvPr/>
        </p:nvSpPr>
        <p:spPr>
          <a:xfrm>
            <a:off x="1232367" y="1748150"/>
            <a:ext cx="1565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The 50-64 age group are 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highly interested in our ads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195" name="Google Shape;195;p22"/>
          <p:cNvSpPr txBox="1"/>
          <p:nvPr/>
        </p:nvSpPr>
        <p:spPr>
          <a:xfrm>
            <a:off x="624797" y="2907127"/>
            <a:ext cx="4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700"/>
          </a:p>
        </p:txBody>
      </p:sp>
      <p:sp>
        <p:nvSpPr>
          <p:cNvPr id="196" name="Google Shape;196;p22"/>
          <p:cNvSpPr txBox="1"/>
          <p:nvPr/>
        </p:nvSpPr>
        <p:spPr>
          <a:xfrm>
            <a:off x="1232367" y="2841075"/>
            <a:ext cx="1565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As the age group increases consumers become more interested in travel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7" name="Google Shape;197;p22"/>
          <p:cNvSpPr/>
          <p:nvPr/>
        </p:nvSpPr>
        <p:spPr>
          <a:xfrm rot="-275808">
            <a:off x="623345" y="704109"/>
            <a:ext cx="1098740" cy="455977"/>
          </a:xfrm>
          <a:custGeom>
            <a:rect b="b" l="l" r="r" t="t"/>
            <a:pathLst>
              <a:path extrusionOk="0" h="913589" w="2201418">
                <a:moveTo>
                  <a:pt x="0" y="0"/>
                </a:moveTo>
                <a:lnTo>
                  <a:pt x="2201418" y="0"/>
                </a:lnTo>
                <a:lnTo>
                  <a:pt x="2201418" y="913588"/>
                </a:lnTo>
                <a:lnTo>
                  <a:pt x="0" y="913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8" name="Google Shape;198;p22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0000" y="924675"/>
            <a:ext cx="5327463" cy="32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/>
        </p:nvSpPr>
        <p:spPr>
          <a:xfrm>
            <a:off x="523001" y="407650"/>
            <a:ext cx="804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CPC: Cost Per Click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624797" y="1814202"/>
            <a:ext cx="4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700"/>
          </a:p>
        </p:txBody>
      </p:sp>
      <p:sp>
        <p:nvSpPr>
          <p:cNvPr id="205" name="Google Shape;205;p23"/>
          <p:cNvSpPr txBox="1"/>
          <p:nvPr/>
        </p:nvSpPr>
        <p:spPr>
          <a:xfrm>
            <a:off x="1232376" y="1748150"/>
            <a:ext cx="1806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Cost per Click for the 50-64 age group is $1.28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624797" y="2907127"/>
            <a:ext cx="4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700"/>
          </a:p>
        </p:txBody>
      </p:sp>
      <p:sp>
        <p:nvSpPr>
          <p:cNvPr id="207" name="Google Shape;207;p23"/>
          <p:cNvSpPr txBox="1"/>
          <p:nvPr/>
        </p:nvSpPr>
        <p:spPr>
          <a:xfrm>
            <a:off x="1232376" y="2841075"/>
            <a:ext cx="1806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The 35-49 age group has the lowest cost per click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523006" y="627558"/>
            <a:ext cx="1605487" cy="537838"/>
          </a:xfrm>
          <a:custGeom>
            <a:rect b="b" l="l" r="r" t="t"/>
            <a:pathLst>
              <a:path extrusionOk="0" h="1075676" w="3210974">
                <a:moveTo>
                  <a:pt x="0" y="0"/>
                </a:moveTo>
                <a:lnTo>
                  <a:pt x="3210974" y="0"/>
                </a:lnTo>
                <a:lnTo>
                  <a:pt x="3210974" y="1075676"/>
                </a:lnTo>
                <a:lnTo>
                  <a:pt x="0" y="107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9" name="Google Shape;209;p23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300" y="1112525"/>
            <a:ext cx="5011575" cy="309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 rot="-275808">
            <a:off x="178245" y="1042359"/>
            <a:ext cx="1098740" cy="455977"/>
          </a:xfrm>
          <a:custGeom>
            <a:rect b="b" l="l" r="r" t="t"/>
            <a:pathLst>
              <a:path extrusionOk="0" h="913589" w="2201418">
                <a:moveTo>
                  <a:pt x="0" y="0"/>
                </a:moveTo>
                <a:lnTo>
                  <a:pt x="2201418" y="0"/>
                </a:lnTo>
                <a:lnTo>
                  <a:pt x="2201418" y="913588"/>
                </a:lnTo>
                <a:lnTo>
                  <a:pt x="0" y="913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4"/>
          <p:cNvSpPr txBox="1"/>
          <p:nvPr/>
        </p:nvSpPr>
        <p:spPr>
          <a:xfrm>
            <a:off x="548251" y="407650"/>
            <a:ext cx="804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CAC: Customer Acquisition Cost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409397" y="2129839"/>
            <a:ext cx="4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700"/>
          </a:p>
        </p:txBody>
      </p:sp>
      <p:sp>
        <p:nvSpPr>
          <p:cNvPr id="217" name="Google Shape;217;p24"/>
          <p:cNvSpPr txBox="1"/>
          <p:nvPr/>
        </p:nvSpPr>
        <p:spPr>
          <a:xfrm>
            <a:off x="1055617" y="2129850"/>
            <a:ext cx="1565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It is costly to 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acquire</a:t>
            </a: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members from the 50-64 age group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 rot="-5400000">
            <a:off x="517097" y="3203602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19" name="Google Shape;219;p24"/>
          <p:cNvSpPr txBox="1"/>
          <p:nvPr/>
        </p:nvSpPr>
        <p:spPr>
          <a:xfrm>
            <a:off x="1232367" y="3072475"/>
            <a:ext cx="1565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5655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4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7575" y="1157338"/>
            <a:ext cx="5137149" cy="31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/>
        </p:nvSpPr>
        <p:spPr>
          <a:xfrm>
            <a:off x="548251" y="237550"/>
            <a:ext cx="804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CPM: Cost Per Thousand</a:t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624797" y="1576202"/>
            <a:ext cx="4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700"/>
          </a:p>
        </p:txBody>
      </p:sp>
      <p:sp>
        <p:nvSpPr>
          <p:cNvPr id="227" name="Google Shape;227;p25"/>
          <p:cNvSpPr txBox="1"/>
          <p:nvPr/>
        </p:nvSpPr>
        <p:spPr>
          <a:xfrm>
            <a:off x="1193705" y="1522238"/>
            <a:ext cx="1565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For every 1000 Impression it costs up to  around $60 for the 50-64 age group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28" name="Google Shape;228;p25"/>
          <p:cNvSpPr/>
          <p:nvPr/>
        </p:nvSpPr>
        <p:spPr>
          <a:xfrm rot="-275808">
            <a:off x="623345" y="704109"/>
            <a:ext cx="1098740" cy="455977"/>
          </a:xfrm>
          <a:custGeom>
            <a:rect b="b" l="l" r="r" t="t"/>
            <a:pathLst>
              <a:path extrusionOk="0" h="913589" w="2201418">
                <a:moveTo>
                  <a:pt x="0" y="0"/>
                </a:moveTo>
                <a:lnTo>
                  <a:pt x="2201418" y="0"/>
                </a:lnTo>
                <a:lnTo>
                  <a:pt x="2201418" y="913588"/>
                </a:lnTo>
                <a:lnTo>
                  <a:pt x="0" y="913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9" name="Google Shape;229;p2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0174" y="774850"/>
            <a:ext cx="5554074" cy="343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563450" y="3485450"/>
            <a:ext cx="55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1148250" y="3461750"/>
            <a:ext cx="165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/>
        </p:nvSpPr>
        <p:spPr>
          <a:xfrm>
            <a:off x="548251" y="407650"/>
            <a:ext cx="80475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: 18-24 and 50-64 Age Groups</a:t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 rot="-5400000">
            <a:off x="517097" y="3014827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38" name="Google Shape;238;p26"/>
          <p:cNvSpPr txBox="1"/>
          <p:nvPr/>
        </p:nvSpPr>
        <p:spPr>
          <a:xfrm>
            <a:off x="6179550" y="1243050"/>
            <a:ext cx="2416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 </a:t>
            </a: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Canada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the 50-64 age group engages slightly more with ads, outperforming the 18-24 group by a small margin.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 the </a:t>
            </a: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UK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the 50-64 group leads with the highest CTR overall, indicating ads are resonating well with older audiences.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 the </a:t>
            </a: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US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the 50-64 group clicks on ads more often than the 18-24 group, showing higher engagement among older users.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39" name="Google Shape;239;p2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247" y="1243050"/>
            <a:ext cx="4917495" cy="30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/>
        </p:nvSpPr>
        <p:spPr>
          <a:xfrm>
            <a:off x="548251" y="407650"/>
            <a:ext cx="80475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CPC: 18-24 and </a:t>
            </a: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50-64</a:t>
            </a: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 Age Groups</a:t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 rot="-5400000">
            <a:off x="517097" y="3014827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46" name="Google Shape;246;p27"/>
          <p:cNvSpPr txBox="1"/>
          <p:nvPr/>
        </p:nvSpPr>
        <p:spPr>
          <a:xfrm>
            <a:off x="6179700" y="1243050"/>
            <a:ext cx="26346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Canada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shows a small difference between the age groups, with the 50-64 group having slightly higher costs than the 18-24 group.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UK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sees the opposite trend, with the 50-64 group costing slightly less per click, showcasing cost efficiency for older audiences.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US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maintains the same CPC for both age groups, indicating no significant cost variation by age.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647" y="1243050"/>
            <a:ext cx="4913451" cy="303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/>
        </p:nvSpPr>
        <p:spPr>
          <a:xfrm>
            <a:off x="548251" y="407650"/>
            <a:ext cx="80475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CAC: 18-24 and 50-64 Age Groups</a:t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A1E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 rot="-5400000">
            <a:off x="517097" y="3014827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4" name="Google Shape;254;p28"/>
          <p:cNvSpPr txBox="1"/>
          <p:nvPr/>
        </p:nvSpPr>
        <p:spPr>
          <a:xfrm>
            <a:off x="6179700" y="1243050"/>
            <a:ext cx="2447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 </a:t>
            </a: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Canada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the 50-64 group has a slightly higher CAC than the 18-24 group, though both remain cost-effective for converting customers.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UK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the 50-64 group costing more to acquire, making the younger demographic a more efficient target.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 the </a:t>
            </a:r>
            <a:r>
              <a:rPr b="1"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US</a:t>
            </a:r>
            <a:r>
              <a:rPr lang="en" sz="13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the CAC for the 50-64 group is higher but there is only a small difference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122" y="1243050"/>
            <a:ext cx="4913451" cy="303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oyalty-Free photo: Photo of brown triumphal arc | PickPik" id="260" name="Google Shape;260;p29"/>
          <p:cNvPicPr preferRelativeResize="0"/>
          <p:nvPr/>
        </p:nvPicPr>
        <p:blipFill rotWithShape="1">
          <a:blip r:embed="rId3">
            <a:alphaModFix/>
          </a:blip>
          <a:srcRect b="0" l="3863" r="6078" t="0"/>
          <a:stretch/>
        </p:blipFill>
        <p:spPr>
          <a:xfrm>
            <a:off x="0" y="11325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29"/>
          <p:cNvGrpSpPr/>
          <p:nvPr/>
        </p:nvGrpSpPr>
        <p:grpSpPr>
          <a:xfrm>
            <a:off x="0" y="-118576"/>
            <a:ext cx="4095548" cy="5262158"/>
            <a:chOff x="0" y="-38100"/>
            <a:chExt cx="2408296" cy="2747433"/>
          </a:xfrm>
        </p:grpSpPr>
        <p:sp>
          <p:nvSpPr>
            <p:cNvPr id="262" name="Google Shape;262;p2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</p:sp>
        <p:sp>
          <p:nvSpPr>
            <p:cNvPr id="263" name="Google Shape;263;p2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29"/>
          <p:cNvSpPr/>
          <p:nvPr/>
        </p:nvSpPr>
        <p:spPr>
          <a:xfrm>
            <a:off x="1686857" y="3875371"/>
            <a:ext cx="1605487" cy="537838"/>
          </a:xfrm>
          <a:custGeom>
            <a:rect b="b" l="l" r="r" t="t"/>
            <a:pathLst>
              <a:path extrusionOk="0" h="1075676" w="3210974">
                <a:moveTo>
                  <a:pt x="0" y="0"/>
                </a:moveTo>
                <a:lnTo>
                  <a:pt x="3210974" y="0"/>
                </a:lnTo>
                <a:lnTo>
                  <a:pt x="3210974" y="1075676"/>
                </a:lnTo>
                <a:lnTo>
                  <a:pt x="0" y="107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9"/>
          <p:cNvSpPr/>
          <p:nvPr/>
        </p:nvSpPr>
        <p:spPr>
          <a:xfrm rot="482944">
            <a:off x="447200" y="658288"/>
            <a:ext cx="1046296" cy="585926"/>
          </a:xfrm>
          <a:custGeom>
            <a:rect b="b" l="l" r="r" t="t"/>
            <a:pathLst>
              <a:path extrusionOk="0" h="1172027" w="2092905">
                <a:moveTo>
                  <a:pt x="0" y="0"/>
                </a:moveTo>
                <a:lnTo>
                  <a:pt x="2092905" y="0"/>
                </a:lnTo>
                <a:lnTo>
                  <a:pt x="2092905" y="1172027"/>
                </a:lnTo>
                <a:lnTo>
                  <a:pt x="0" y="117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29"/>
          <p:cNvSpPr txBox="1"/>
          <p:nvPr/>
        </p:nvSpPr>
        <p:spPr>
          <a:xfrm>
            <a:off x="974043" y="2647514"/>
            <a:ext cx="2624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7" name="Google Shape;267;p29"/>
          <p:cNvSpPr txBox="1"/>
          <p:nvPr/>
        </p:nvSpPr>
        <p:spPr>
          <a:xfrm>
            <a:off x="7160683" y="4221451"/>
            <a:ext cx="124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\</a:t>
            </a:r>
            <a:endParaRPr sz="700"/>
          </a:p>
        </p:txBody>
      </p:sp>
      <p:sp>
        <p:nvSpPr>
          <p:cNvPr id="268" name="Google Shape;268;p29"/>
          <p:cNvSpPr/>
          <p:nvPr/>
        </p:nvSpPr>
        <p:spPr>
          <a:xfrm>
            <a:off x="3552525" y="-11325"/>
            <a:ext cx="1899920" cy="5166158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269" name="Google Shape;269;p29"/>
          <p:cNvSpPr/>
          <p:nvPr/>
        </p:nvSpPr>
        <p:spPr>
          <a:xfrm>
            <a:off x="3088850" y="-11325"/>
            <a:ext cx="1899920" cy="5166158"/>
          </a:xfrm>
          <a:custGeom>
            <a:rect b="b" l="l" r="r" t="t"/>
            <a:pathLst>
              <a:path extrusionOk="0" h="1103880" w="406400">
                <a:moveTo>
                  <a:pt x="203200" y="0"/>
                </a:moveTo>
                <a:lnTo>
                  <a:pt x="406400" y="0"/>
                </a:lnTo>
                <a:lnTo>
                  <a:pt x="203200" y="1103880"/>
                </a:lnTo>
                <a:lnTo>
                  <a:pt x="0" y="1103880"/>
                </a:lnTo>
                <a:lnTo>
                  <a:pt x="2032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</p:sp>
      <p:sp>
        <p:nvSpPr>
          <p:cNvPr id="270" name="Google Shape;270;p29"/>
          <p:cNvSpPr txBox="1"/>
          <p:nvPr/>
        </p:nvSpPr>
        <p:spPr>
          <a:xfrm>
            <a:off x="346150" y="1872450"/>
            <a:ext cx="43707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Performance Across Ad Types</a:t>
            </a:r>
            <a:endParaRPr sz="3600">
              <a:solidFill>
                <a:srgbClr val="1A1E3B"/>
              </a:solidFill>
            </a:endParaRPr>
          </a:p>
        </p:txBody>
      </p:sp>
      <p:pic>
        <p:nvPicPr>
          <p:cNvPr id="271" name="Google Shape;27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/>
        </p:nvSpPr>
        <p:spPr>
          <a:xfrm>
            <a:off x="523001" y="407650"/>
            <a:ext cx="804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Overview of Ad Type Popularity</a:t>
            </a:r>
            <a:endParaRPr sz="700">
              <a:solidFill>
                <a:srgbClr val="1A1E3B"/>
              </a:solidFill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624797" y="1814202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78" name="Google Shape;278;p30"/>
          <p:cNvSpPr txBox="1"/>
          <p:nvPr/>
        </p:nvSpPr>
        <p:spPr>
          <a:xfrm>
            <a:off x="523000" y="1137388"/>
            <a:ext cx="2200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Overall, the most clicked on ads are: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600"/>
              <a:buFont typeface="Cabin"/>
              <a:buAutoNum type="arabicPeriod"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Accomodations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600"/>
              <a:buFont typeface="Cabin"/>
              <a:buAutoNum type="arabicPeriod"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Air Travel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600"/>
              <a:buFont typeface="Cabin"/>
              <a:buAutoNum type="arabicPeriod"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Transportation &amp; Excursions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600"/>
              <a:buFont typeface="Cabin"/>
              <a:buAutoNum type="arabicPeriod"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Tourist Attractions &amp; Destinations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600"/>
              <a:buFont typeface="Cabin"/>
              <a:buAutoNum type="arabicPeriod"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Travel Booking Services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624797" y="2907127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80" name="Google Shape;280;p30"/>
          <p:cNvSpPr txBox="1"/>
          <p:nvPr/>
        </p:nvSpPr>
        <p:spPr>
          <a:xfrm>
            <a:off x="1232376" y="2841075"/>
            <a:ext cx="18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0"/>
          <p:cNvSpPr/>
          <p:nvPr/>
        </p:nvSpPr>
        <p:spPr>
          <a:xfrm>
            <a:off x="86756" y="57108"/>
            <a:ext cx="1605487" cy="537838"/>
          </a:xfrm>
          <a:custGeom>
            <a:rect b="b" l="l" r="r" t="t"/>
            <a:pathLst>
              <a:path extrusionOk="0" h="1075676" w="3210974">
                <a:moveTo>
                  <a:pt x="0" y="0"/>
                </a:moveTo>
                <a:lnTo>
                  <a:pt x="3210974" y="0"/>
                </a:lnTo>
                <a:lnTo>
                  <a:pt x="3210974" y="1075676"/>
                </a:lnTo>
                <a:lnTo>
                  <a:pt x="0" y="107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82" name="Google Shape;282;p3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8976" y="1137400"/>
            <a:ext cx="5800223" cy="3082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/>
          <p:nvPr/>
        </p:nvSpPr>
        <p:spPr>
          <a:xfrm>
            <a:off x="1232376" y="2841075"/>
            <a:ext cx="18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3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825" y="203975"/>
            <a:ext cx="8184474" cy="505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1"/>
          <p:cNvSpPr txBox="1"/>
          <p:nvPr/>
        </p:nvSpPr>
        <p:spPr>
          <a:xfrm>
            <a:off x="523001" y="49525"/>
            <a:ext cx="804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Ad Type Popularity Across Age Groups</a:t>
            </a:r>
            <a:endParaRPr sz="200">
              <a:solidFill>
                <a:srgbClr val="1A1E3B"/>
              </a:solidFill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6872300" y="550150"/>
            <a:ext cx="1554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Accommodations most clicked on across all age groups 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Mainly by 50-64, 35-49, and 65+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/>
        </p:nvSpPr>
        <p:spPr>
          <a:xfrm>
            <a:off x="523001" y="407650"/>
            <a:ext cx="804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Comparing Performance of Top 5 Travel Ads for 50-64 Yr Olds</a:t>
            </a:r>
            <a:endParaRPr sz="100">
              <a:solidFill>
                <a:srgbClr val="1A1E3B"/>
              </a:solidFill>
            </a:endParaRPr>
          </a:p>
        </p:txBody>
      </p:sp>
      <p:sp>
        <p:nvSpPr>
          <p:cNvPr id="297" name="Google Shape;297;p32"/>
          <p:cNvSpPr txBox="1"/>
          <p:nvPr/>
        </p:nvSpPr>
        <p:spPr>
          <a:xfrm>
            <a:off x="253472" y="1247902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8" name="Google Shape;298;p32"/>
          <p:cNvSpPr txBox="1"/>
          <p:nvPr/>
        </p:nvSpPr>
        <p:spPr>
          <a:xfrm>
            <a:off x="944600" y="1247900"/>
            <a:ext cx="155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327747" y="2895077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0" name="Google Shape;300;p32"/>
          <p:cNvSpPr txBox="1"/>
          <p:nvPr/>
        </p:nvSpPr>
        <p:spPr>
          <a:xfrm>
            <a:off x="1232376" y="2841075"/>
            <a:ext cx="18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2"/>
          <p:cNvSpPr/>
          <p:nvPr/>
        </p:nvSpPr>
        <p:spPr>
          <a:xfrm>
            <a:off x="-52569" y="-130192"/>
            <a:ext cx="1605487" cy="537838"/>
          </a:xfrm>
          <a:custGeom>
            <a:rect b="b" l="l" r="r" t="t"/>
            <a:pathLst>
              <a:path extrusionOk="0" h="1075676" w="3210974">
                <a:moveTo>
                  <a:pt x="0" y="0"/>
                </a:moveTo>
                <a:lnTo>
                  <a:pt x="3210974" y="0"/>
                </a:lnTo>
                <a:lnTo>
                  <a:pt x="3210974" y="1075676"/>
                </a:lnTo>
                <a:lnTo>
                  <a:pt x="0" y="107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2" name="Google Shape;30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2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" y="749550"/>
            <a:ext cx="6311049" cy="389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2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7200" y="781375"/>
            <a:ext cx="3514899" cy="217337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2"/>
          <p:cNvSpPr txBox="1"/>
          <p:nvPr/>
        </p:nvSpPr>
        <p:spPr>
          <a:xfrm>
            <a:off x="6352100" y="3272175"/>
            <a:ext cx="2243100" cy="2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Accommodations</a:t>
            </a: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has the most </a:t>
            </a:r>
            <a:r>
              <a:rPr b="1"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impressions</a:t>
            </a: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and is followed up by the top 4 Ad category: </a:t>
            </a:r>
            <a:r>
              <a:rPr b="1"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Tourist Attractions &amp; Destinations</a:t>
            </a:r>
            <a:endParaRPr b="1"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/>
        </p:nvSpPr>
        <p:spPr>
          <a:xfrm>
            <a:off x="1243650" y="651550"/>
            <a:ext cx="665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Mobile and PC Ads Perform Better</a:t>
            </a:r>
            <a:endParaRPr sz="400">
              <a:solidFill>
                <a:srgbClr val="1A1E3B"/>
              </a:solidFill>
            </a:endParaRPr>
          </a:p>
        </p:txBody>
      </p:sp>
      <p:sp>
        <p:nvSpPr>
          <p:cNvPr id="311" name="Google Shape;311;p33"/>
          <p:cNvSpPr txBox="1"/>
          <p:nvPr/>
        </p:nvSpPr>
        <p:spPr>
          <a:xfrm rot="-5400000">
            <a:off x="517151" y="1866175"/>
            <a:ext cx="43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12" name="Google Shape;312;p33"/>
          <p:cNvSpPr txBox="1"/>
          <p:nvPr/>
        </p:nvSpPr>
        <p:spPr>
          <a:xfrm>
            <a:off x="4449750" y="3003075"/>
            <a:ext cx="3314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26B4"/>
                </a:solidFill>
                <a:latin typeface="Poppins"/>
                <a:ea typeface="Poppins"/>
                <a:cs typeface="Poppins"/>
                <a:sym typeface="Poppins"/>
              </a:rPr>
              <a:t>Devices &amp; Impressions - Travel Data 2023</a:t>
            </a:r>
            <a:endParaRPr sz="1100">
              <a:solidFill>
                <a:srgbClr val="0126B4"/>
              </a:solidFill>
            </a:endParaRPr>
          </a:p>
        </p:txBody>
      </p:sp>
      <p:sp>
        <p:nvSpPr>
          <p:cNvPr id="313" name="Google Shape;313;p33"/>
          <p:cNvSpPr/>
          <p:nvPr/>
        </p:nvSpPr>
        <p:spPr>
          <a:xfrm rot="-261419">
            <a:off x="1249663" y="741488"/>
            <a:ext cx="579547" cy="174122"/>
          </a:xfrm>
          <a:custGeom>
            <a:rect b="b" l="l" r="r" t="t"/>
            <a:pathLst>
              <a:path extrusionOk="0" h="913589" w="2201418">
                <a:moveTo>
                  <a:pt x="0" y="0"/>
                </a:moveTo>
                <a:lnTo>
                  <a:pt x="2201418" y="0"/>
                </a:lnTo>
                <a:lnTo>
                  <a:pt x="2201418" y="913588"/>
                </a:lnTo>
                <a:lnTo>
                  <a:pt x="0" y="913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4" name="Google Shape;31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5450" y="2140434"/>
            <a:ext cx="3482999" cy="86264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 txBox="1"/>
          <p:nvPr/>
        </p:nvSpPr>
        <p:spPr>
          <a:xfrm>
            <a:off x="818050" y="1598950"/>
            <a:ext cx="3314400" cy="2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900"/>
              <a:buFont typeface="Cabin"/>
              <a:buChar char="●"/>
            </a:pPr>
            <a:r>
              <a:rPr lang="en" sz="19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105 impressions</a:t>
            </a:r>
            <a:endParaRPr sz="19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900"/>
              <a:buFont typeface="Cabin"/>
              <a:buChar char="●"/>
            </a:pPr>
            <a:r>
              <a:rPr lang="en" sz="19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Ads are most seen on mobile but the difference between PC and Mobile is minimal</a:t>
            </a:r>
            <a:endParaRPr sz="19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5655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5655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5655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56553"/>
              </a:solidFill>
            </a:endParaRPr>
          </a:p>
        </p:txBody>
      </p:sp>
      <p:sp>
        <p:nvSpPr>
          <p:cNvPr id="316" name="Google Shape;316;p33"/>
          <p:cNvSpPr/>
          <p:nvPr/>
        </p:nvSpPr>
        <p:spPr>
          <a:xfrm rot="-261419">
            <a:off x="7314788" y="741488"/>
            <a:ext cx="579547" cy="174122"/>
          </a:xfrm>
          <a:custGeom>
            <a:rect b="b" l="l" r="r" t="t"/>
            <a:pathLst>
              <a:path extrusionOk="0" h="913589" w="2201418">
                <a:moveTo>
                  <a:pt x="0" y="0"/>
                </a:moveTo>
                <a:lnTo>
                  <a:pt x="2201418" y="0"/>
                </a:lnTo>
                <a:lnTo>
                  <a:pt x="2201418" y="913588"/>
                </a:lnTo>
                <a:lnTo>
                  <a:pt x="0" y="913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/>
          <p:nvPr/>
        </p:nvSpPr>
        <p:spPr>
          <a:xfrm>
            <a:off x="548251" y="608925"/>
            <a:ext cx="804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Travelers are Interested In Comfort Stays</a:t>
            </a:r>
            <a:endParaRPr sz="200">
              <a:solidFill>
                <a:srgbClr val="1A1E3B"/>
              </a:solidFill>
            </a:endParaRPr>
          </a:p>
        </p:txBody>
      </p:sp>
      <p:pic>
        <p:nvPicPr>
          <p:cNvPr id="322" name="Google Shape;3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100" y="1342212"/>
            <a:ext cx="4585645" cy="24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4"/>
          <p:cNvSpPr txBox="1"/>
          <p:nvPr/>
        </p:nvSpPr>
        <p:spPr>
          <a:xfrm>
            <a:off x="1274975" y="3843675"/>
            <a:ext cx="381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Keyword Searches - accommodations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24" name="Google Shape;324;p34"/>
          <p:cNvSpPr txBox="1"/>
          <p:nvPr/>
        </p:nvSpPr>
        <p:spPr>
          <a:xfrm>
            <a:off x="5595750" y="1734300"/>
            <a:ext cx="30000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b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02/105 </a:t>
            </a:r>
            <a:r>
              <a:rPr b="1" i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unspecified</a:t>
            </a:r>
            <a:r>
              <a:rPr b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 category</a:t>
            </a:r>
            <a:endParaRPr b="1" sz="1800">
              <a:solidFill>
                <a:srgbClr val="F5655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56553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65/102 of the </a:t>
            </a:r>
            <a:r>
              <a:rPr b="1" i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unspecified</a:t>
            </a:r>
            <a:r>
              <a:rPr b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 are under the </a:t>
            </a:r>
            <a:r>
              <a:rPr b="1" i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owned and operated</a:t>
            </a:r>
            <a:r>
              <a:rPr b="1" lang="en" sz="1800">
                <a:solidFill>
                  <a:srgbClr val="F56553"/>
                </a:solidFill>
                <a:latin typeface="Cabin"/>
                <a:ea typeface="Cabin"/>
                <a:cs typeface="Cabin"/>
                <a:sym typeface="Cabin"/>
              </a:rPr>
              <a:t> vertical</a:t>
            </a:r>
            <a:endParaRPr b="1" sz="1800">
              <a:solidFill>
                <a:srgbClr val="F56553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/>
        </p:nvSpPr>
        <p:spPr>
          <a:xfrm>
            <a:off x="548251" y="608925"/>
            <a:ext cx="804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Top 3 Accomodations</a:t>
            </a:r>
            <a:endParaRPr sz="700">
              <a:solidFill>
                <a:srgbClr val="1A1E3B"/>
              </a:solidFill>
            </a:endParaRPr>
          </a:p>
        </p:txBody>
      </p:sp>
      <p:pic>
        <p:nvPicPr>
          <p:cNvPr id="330" name="Google Shape;3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501" y="1387150"/>
            <a:ext cx="7991249" cy="1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5"/>
          <p:cNvSpPr txBox="1"/>
          <p:nvPr/>
        </p:nvSpPr>
        <p:spPr>
          <a:xfrm>
            <a:off x="722025" y="2974125"/>
            <a:ext cx="552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56553"/>
                </a:solidFill>
              </a:rPr>
              <a:t>01.</a:t>
            </a:r>
            <a:endParaRPr b="1" sz="1800">
              <a:solidFill>
                <a:srgbClr val="F56553"/>
              </a:solidFill>
            </a:endParaRPr>
          </a:p>
        </p:txBody>
      </p:sp>
      <p:sp>
        <p:nvSpPr>
          <p:cNvPr id="332" name="Google Shape;332;p35"/>
          <p:cNvSpPr txBox="1"/>
          <p:nvPr/>
        </p:nvSpPr>
        <p:spPr>
          <a:xfrm>
            <a:off x="3248050" y="2992875"/>
            <a:ext cx="55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56553"/>
                </a:solidFill>
              </a:rPr>
              <a:t>02.</a:t>
            </a:r>
            <a:endParaRPr b="1" sz="1800">
              <a:solidFill>
                <a:srgbClr val="F56553"/>
              </a:solidFill>
            </a:endParaRPr>
          </a:p>
        </p:txBody>
      </p:sp>
      <p:sp>
        <p:nvSpPr>
          <p:cNvPr id="333" name="Google Shape;333;p35"/>
          <p:cNvSpPr txBox="1"/>
          <p:nvPr/>
        </p:nvSpPr>
        <p:spPr>
          <a:xfrm>
            <a:off x="5744200" y="2954475"/>
            <a:ext cx="5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56553"/>
                </a:solidFill>
              </a:rPr>
              <a:t>03.</a:t>
            </a:r>
            <a:endParaRPr b="1">
              <a:solidFill>
                <a:srgbClr val="F56553"/>
              </a:solidFill>
            </a:endParaRPr>
          </a:p>
        </p:txBody>
      </p:sp>
      <p:sp>
        <p:nvSpPr>
          <p:cNvPr id="334" name="Google Shape;334;p35"/>
          <p:cNvSpPr txBox="1"/>
          <p:nvPr/>
        </p:nvSpPr>
        <p:spPr>
          <a:xfrm>
            <a:off x="1198700" y="3003600"/>
            <a:ext cx="18663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Unspecified</a:t>
            </a: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has the highest search volume and spend. CI 58.13 the previous year.</a:t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3707488" y="3033000"/>
            <a:ext cx="2036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Vacation Rentals</a:t>
            </a: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is the second one on search volume and spend. CI 12.73 the previous year.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6154575" y="3033000"/>
            <a:ext cx="236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Bed &amp; Breakfast</a:t>
            </a: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is the next best </a:t>
            </a: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keyword</a:t>
            </a: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for search volume and spend, even though the CI went up from the previous year. CI 13.21 the previous</a:t>
            </a: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year.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/>
        </p:nvSpPr>
        <p:spPr>
          <a:xfrm>
            <a:off x="548251" y="454150"/>
            <a:ext cx="804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A1E3B"/>
                </a:solidFill>
                <a:latin typeface="Poppins"/>
                <a:ea typeface="Poppins"/>
                <a:cs typeface="Poppins"/>
                <a:sym typeface="Poppins"/>
              </a:rPr>
              <a:t>Travel Searches Increases as We Approach the Fall</a:t>
            </a:r>
            <a:endParaRPr sz="500">
              <a:solidFill>
                <a:srgbClr val="1A1E3B"/>
              </a:solidFill>
            </a:endParaRPr>
          </a:p>
        </p:txBody>
      </p:sp>
      <p:pic>
        <p:nvPicPr>
          <p:cNvPr id="342" name="Google Shape;3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375" y="904825"/>
            <a:ext cx="7355249" cy="295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6"/>
          <p:cNvSpPr txBox="1"/>
          <p:nvPr/>
        </p:nvSpPr>
        <p:spPr>
          <a:xfrm>
            <a:off x="1443150" y="3955475"/>
            <a:ext cx="6257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Search volume and spend share increases as we move into the Fall for each of these top categories</a:t>
            </a:r>
            <a:endParaRPr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"/>
          <p:cNvSpPr txBox="1"/>
          <p:nvPr/>
        </p:nvSpPr>
        <p:spPr>
          <a:xfrm>
            <a:off x="4283750" y="406000"/>
            <a:ext cx="4350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Key Takeaway Points and Recommendations</a:t>
            </a:r>
            <a:endParaRPr sz="200"/>
          </a:p>
        </p:txBody>
      </p:sp>
      <p:sp>
        <p:nvSpPr>
          <p:cNvPr id="349" name="Google Shape;349;p37"/>
          <p:cNvSpPr txBox="1"/>
          <p:nvPr/>
        </p:nvSpPr>
        <p:spPr>
          <a:xfrm>
            <a:off x="4456763" y="2392931"/>
            <a:ext cx="149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 sz="700"/>
          </a:p>
        </p:txBody>
      </p:sp>
      <p:sp>
        <p:nvSpPr>
          <p:cNvPr id="350" name="Google Shape;350;p37"/>
          <p:cNvSpPr/>
          <p:nvPr/>
        </p:nvSpPr>
        <p:spPr>
          <a:xfrm rot="746126">
            <a:off x="392138" y="3426341"/>
            <a:ext cx="1127024" cy="1291655"/>
          </a:xfrm>
          <a:custGeom>
            <a:rect b="b" l="l" r="r" t="t"/>
            <a:pathLst>
              <a:path extrusionOk="0" h="2587388" w="2257606">
                <a:moveTo>
                  <a:pt x="0" y="0"/>
                </a:moveTo>
                <a:lnTo>
                  <a:pt x="2257606" y="0"/>
                </a:lnTo>
                <a:lnTo>
                  <a:pt x="2257606" y="2587388"/>
                </a:lnTo>
                <a:lnTo>
                  <a:pt x="0" y="2587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51" name="Google Shape;351;p37"/>
          <p:cNvPicPr preferRelativeResize="0"/>
          <p:nvPr/>
        </p:nvPicPr>
        <p:blipFill rotWithShape="1">
          <a:blip r:embed="rId4">
            <a:alphaModFix/>
          </a:blip>
          <a:srcRect b="252" l="0" r="0" t="9747"/>
          <a:stretch/>
        </p:blipFill>
        <p:spPr>
          <a:xfrm>
            <a:off x="-69650" y="0"/>
            <a:ext cx="33876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7"/>
          <p:cNvSpPr txBox="1"/>
          <p:nvPr/>
        </p:nvSpPr>
        <p:spPr>
          <a:xfrm>
            <a:off x="3724025" y="1087000"/>
            <a:ext cx="5022900" cy="3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500"/>
              <a:buFont typeface="Poppins"/>
              <a:buChar char="❖"/>
            </a:pP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For the </a:t>
            </a: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 50-64 age group, they may have more disposable income and are likely exploring products or services that cater to their established preferences or needs, such as travel, healthcare, or financial services.</a:t>
            </a:r>
            <a:endParaRPr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500"/>
              <a:buFont typeface="Poppins"/>
              <a:buChar char="❖"/>
            </a:pP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For the 18-24 age group, high competition among ad platforms targeting this age group often leads to lower bid requirements to capture their attention.</a:t>
            </a:r>
            <a:endParaRPr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500"/>
              <a:buFont typeface="Cabin"/>
              <a:buChar char="❖"/>
            </a:pP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Collaborating with owned and operated accommodations to develop a referral points program that rewards guests staying at these properties</a:t>
            </a:r>
            <a:endParaRPr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126B4"/>
              </a:buClr>
              <a:buSzPts val="1500"/>
              <a:buFont typeface="Cabin"/>
              <a:buChar char="❖"/>
            </a:pPr>
            <a:r>
              <a:rPr lang="en" sz="1500">
                <a:solidFill>
                  <a:srgbClr val="0126B4"/>
                </a:solidFill>
                <a:latin typeface="Cabin"/>
                <a:ea typeface="Cabin"/>
                <a:cs typeface="Cabin"/>
                <a:sym typeface="Cabin"/>
              </a:rPr>
              <a:t>Partnering with a credit card company or creating an exclusive card offering tailored to the age group that travels most frequently</a:t>
            </a:r>
            <a:endParaRPr sz="1500">
              <a:solidFill>
                <a:srgbClr val="0126B4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8"/>
          <p:cNvPicPr preferRelativeResize="0"/>
          <p:nvPr/>
        </p:nvPicPr>
        <p:blipFill rotWithShape="1">
          <a:blip r:embed="rId3">
            <a:alphaModFix/>
          </a:blip>
          <a:srcRect b="25200" l="0" r="0" t="25200"/>
          <a:stretch/>
        </p:blipFill>
        <p:spPr>
          <a:xfrm>
            <a:off x="0" y="384891"/>
            <a:ext cx="3874604" cy="206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8"/>
          <p:cNvPicPr preferRelativeResize="0"/>
          <p:nvPr/>
        </p:nvPicPr>
        <p:blipFill rotWithShape="1">
          <a:blip r:embed="rId4">
            <a:alphaModFix/>
          </a:blip>
          <a:srcRect b="10036" l="0" r="0" t="10036"/>
          <a:stretch/>
        </p:blipFill>
        <p:spPr>
          <a:xfrm>
            <a:off x="5269396" y="2694046"/>
            <a:ext cx="3874604" cy="206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8"/>
          <p:cNvPicPr preferRelativeResize="0"/>
          <p:nvPr/>
        </p:nvPicPr>
        <p:blipFill rotWithShape="1">
          <a:blip r:embed="rId5">
            <a:alphaModFix/>
          </a:blip>
          <a:srcRect b="0" l="18441" r="18440" t="0"/>
          <a:stretch/>
        </p:blipFill>
        <p:spPr>
          <a:xfrm>
            <a:off x="4122386" y="384891"/>
            <a:ext cx="1955849" cy="206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8"/>
          <p:cNvPicPr preferRelativeResize="0"/>
          <p:nvPr/>
        </p:nvPicPr>
        <p:blipFill rotWithShape="1">
          <a:blip r:embed="rId6">
            <a:alphaModFix/>
          </a:blip>
          <a:srcRect b="12397" l="0" r="0" t="8433"/>
          <a:stretch/>
        </p:blipFill>
        <p:spPr>
          <a:xfrm>
            <a:off x="3065766" y="2694046"/>
            <a:ext cx="1955849" cy="206456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8"/>
          <p:cNvSpPr txBox="1"/>
          <p:nvPr/>
        </p:nvSpPr>
        <p:spPr>
          <a:xfrm>
            <a:off x="6648425" y="1451539"/>
            <a:ext cx="18060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sz="700"/>
          </a:p>
        </p:txBody>
      </p:sp>
      <p:sp>
        <p:nvSpPr>
          <p:cNvPr id="363" name="Google Shape;363;p38"/>
          <p:cNvSpPr txBox="1"/>
          <p:nvPr/>
        </p:nvSpPr>
        <p:spPr>
          <a:xfrm>
            <a:off x="530125" y="3482875"/>
            <a:ext cx="171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56553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sz="400"/>
          </a:p>
        </p:txBody>
      </p:sp>
      <p:pic>
        <p:nvPicPr>
          <p:cNvPr id="364" name="Google Shape;364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87300" y="4549127"/>
            <a:ext cx="849492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